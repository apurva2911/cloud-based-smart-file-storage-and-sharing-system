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presProps.xml" ContentType="application/vnd.openxmlformats-officedocument.presentationml.presProps+xml"/>
  <Override PartName="/ppt/media/image18.emf" ContentType="image/x-emf"/>
  <Override PartName="/ppt/media/image1.emf" ContentType="image/x-emf"/>
  <Override PartName="/ppt/media/image2.emf" ContentType="image/x-emf"/>
  <Override PartName="/ppt/media/image3.emf" ContentType="image/x-emf"/>
  <Override PartName="/ppt/media/image4.emf" ContentType="image/x-emf"/>
  <Override PartName="/ppt/media/image5.emf" ContentType="image/x-emf"/>
  <Override PartName="/ppt/media/image6.emf" ContentType="image/x-emf"/>
  <Override PartName="/ppt/media/image7.emf" ContentType="image/x-emf"/>
  <Override PartName="/ppt/media/image11.emf" ContentType="image/x-emf"/>
  <Override PartName="/ppt/media/image8.emf" ContentType="image/x-emf"/>
  <Override PartName="/ppt/media/image10.emf" ContentType="image/x-emf"/>
  <Override PartName="/ppt/media/image9.emf" ContentType="image/x-emf"/>
  <Override PartName="/ppt/media/image12.emf" ContentType="image/x-emf"/>
  <Override PartName="/ppt/media/image13.emf" ContentType="image/x-emf"/>
  <Override PartName="/ppt/media/image14.emf" ContentType="image/x-emf"/>
  <Override PartName="/ppt/media/image15.emf" ContentType="image/x-emf"/>
  <Override PartName="/ppt/media/image16.emf" ContentType="image/x-emf"/>
  <Override PartName="/ppt/media/image17.emf" ContentType="image/x-emf"/>
  <Override PartName="/ppt/media/image19.emf" ContentType="image/x-emf"/>
  <Override PartName="/ppt/media/image20.emf" ContentType="image/x-emf"/>
  <Override PartName="/ppt/media/image21.emf" ContentType="image/x-emf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_rels/slide18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9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6AED6E0-5EFB-4403-926A-06DEFC0E24A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3A835B6-58D7-4905-B02D-0CD53A42BB7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0D595D0-6345-4B7A-97C0-9175658B62F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ACEA27D-AD58-4677-AA4E-37EB30C5AB7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3F0568C-E9E5-4BE4-8EE8-2064C883C48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194D77A-96DE-4E0B-8F86-C81B14442E0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0B62C8D-4DFC-4A0C-8BD1-DF49A879C2A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1CDC2F7-A7B3-4C59-BEB8-5DD7655C390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4A94102-25C9-4B5B-BF1F-91CC1B10577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B130436-EF7A-4A79-A798-35E96373EBD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B83D1BF-F208-437E-911A-74294B323BF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dt" idx="3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ftr" idx="3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6"/>
          <p:cNvSpPr>
            <a:spLocks noGrp="1"/>
          </p:cNvSpPr>
          <p:nvPr>
            <p:ph type="sldNum" idx="3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85CF994-ECA4-4047-ADE3-6C282BB7664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emf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emf"/><Relationship Id="rId2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emf"/><Relationship Id="rId2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emf"/><Relationship Id="rId2" Type="http://schemas.openxmlformats.org/officeDocument/2006/relationships/image" Target="../media/image5.emf"/><Relationship Id="rId3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emf"/><Relationship Id="rId2" Type="http://schemas.openxmlformats.org/officeDocument/2006/relationships/image" Target="../media/image7.emf"/><Relationship Id="rId3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emf"/><Relationship Id="rId2" Type="http://schemas.openxmlformats.org/officeDocument/2006/relationships/image" Target="../media/image9.emf"/><Relationship Id="rId3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0.emf"/><Relationship Id="rId2" Type="http://schemas.openxmlformats.org/officeDocument/2006/relationships/image" Target="../media/image11.emf"/><Relationship Id="rId3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emf"/><Relationship Id="rId2" Type="http://schemas.openxmlformats.org/officeDocument/2006/relationships/image" Target="../media/image13.emf"/><Relationship Id="rId3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4.emf"/><Relationship Id="rId2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5.emf"/><Relationship Id="rId2" Type="http://schemas.openxmlformats.org/officeDocument/2006/relationships/image" Target="../media/image16.emf"/><Relationship Id="rId3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7.emf"/><Relationship Id="rId2" Type="http://schemas.openxmlformats.org/officeDocument/2006/relationships/image" Target="../media/image18.emf"/><Relationship Id="rId3" Type="http://schemas.openxmlformats.org/officeDocument/2006/relationships/image" Target="../media/image19.emf"/><Relationship Id="rId4" Type="http://schemas.openxmlformats.org/officeDocument/2006/relationships/image" Target="../media/image20.emf"/><Relationship Id="rId5" Type="http://schemas.openxmlformats.org/officeDocument/2006/relationships/slideLayout" Target="../slideLayouts/slideLayout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1.emf"/><Relationship Id="rId2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SmartDrive – Serverless File Management System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A Serverless Architecture Using AWS Lambda, S3 &amp; DynamoDB</a:t>
            </a:r>
            <a:endParaRPr b="1" lang="en-US" sz="18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Presented By: Apurva Kadam</a:t>
            </a:r>
            <a:endParaRPr b="1" lang="en-US" sz="18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Internship Project by Elevate Labs</a:t>
            </a:r>
            <a:endParaRPr b="1" lang="en-US" sz="18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Date: November 2025</a:t>
            </a:r>
            <a:endParaRPr b="1" lang="en-US" sz="18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43080" indent="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Project Goal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Enable fast and secure access with optional CloudFront CDN and HTTPS.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To design and deploy a secure, scalable, and efficient cloud-based file storage system where users can upload, access, and share files through a web interface using cloud services.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Allow file upload/download using AWS S3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Provide a simple UI for users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Use serverless architecture for scalability and low maintenance.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43080" indent="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5076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Tools &amp; Technologies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Frontend: HTML, CSS, JavaScript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Backend: AWS Lambda, API Gateway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Storage: AWS S3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Database: DynamoDB (SmartDriveFiles table)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Security: JWT Authentication, SSL/HTTPS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Optional: CloudFront CDN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Other: Base64 encoding for file transfer, CORS configured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System Features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JWT-secured login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Upload files via frontend → Lambda → S3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Store metadata: file_id, filename, owner_email, upload_date in DynamoDB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File operations: List, Download, Delete, Share (pre-signed URLs)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Serverless, scalable, and secure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180000"/>
            <a:ext cx="7642800" cy="98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Workflow Overview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1440000" y="54000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0" defTabSz="457200">
              <a:lnSpc>
                <a:spcPct val="100000"/>
              </a:lnSpc>
              <a:spcBef>
                <a:spcPts val="360"/>
              </a:spcBef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0" defTabSz="457200">
              <a:lnSpc>
                <a:spcPct val="100000"/>
              </a:lnSpc>
              <a:spcBef>
                <a:spcPts val="360"/>
              </a:spcBef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SmartDrive – End-to-end file management workflow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4" name="" descr=""/>
          <p:cNvPicPr/>
          <p:nvPr/>
        </p:nvPicPr>
        <p:blipFill>
          <a:blip r:embed="rId1"/>
          <a:stretch/>
        </p:blipFill>
        <p:spPr>
          <a:xfrm rot="21591000">
            <a:off x="1847520" y="1013760"/>
            <a:ext cx="9745200" cy="774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Demo Screenshots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540000" y="123444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     Login screen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7" name="" descr=""/>
          <p:cNvPicPr/>
          <p:nvPr/>
        </p:nvPicPr>
        <p:blipFill>
          <a:blip r:embed="rId1"/>
          <a:stretch/>
        </p:blipFill>
        <p:spPr>
          <a:xfrm>
            <a:off x="1080000" y="2063880"/>
            <a:ext cx="7285320" cy="5136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/>
          </p:nvPr>
        </p:nvSpPr>
        <p:spPr>
          <a:xfrm>
            <a:off x="540000" y="123444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     Login successful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9" name="" descr=""/>
          <p:cNvPicPr/>
          <p:nvPr/>
        </p:nvPicPr>
        <p:blipFill>
          <a:blip r:embed="rId1"/>
          <a:stretch/>
        </p:blipFill>
        <p:spPr>
          <a:xfrm>
            <a:off x="956160" y="2160000"/>
            <a:ext cx="9123840" cy="360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720000" y="720000"/>
            <a:ext cx="5940000" cy="562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" name="" descr=""/>
          <p:cNvPicPr/>
          <p:nvPr/>
        </p:nvPicPr>
        <p:blipFill>
          <a:blip r:embed="rId2"/>
          <a:stretch/>
        </p:blipFill>
        <p:spPr>
          <a:xfrm>
            <a:off x="1080000" y="1413360"/>
            <a:ext cx="9540000" cy="6326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845640" y="540000"/>
            <a:ext cx="5454360" cy="562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" name="" descr=""/>
          <p:cNvPicPr/>
          <p:nvPr/>
        </p:nvPicPr>
        <p:blipFill>
          <a:blip r:embed="rId2"/>
          <a:stretch/>
        </p:blipFill>
        <p:spPr>
          <a:xfrm>
            <a:off x="900000" y="1106640"/>
            <a:ext cx="9970920" cy="6093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" descr=""/>
          <p:cNvPicPr/>
          <p:nvPr/>
        </p:nvPicPr>
        <p:blipFill>
          <a:blip r:embed="rId1"/>
          <a:stretch/>
        </p:blipFill>
        <p:spPr>
          <a:xfrm>
            <a:off x="900000" y="720000"/>
            <a:ext cx="5274360" cy="54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" name="" descr=""/>
          <p:cNvPicPr/>
          <p:nvPr/>
        </p:nvPicPr>
        <p:blipFill>
          <a:blip r:embed="rId2"/>
          <a:stretch/>
        </p:blipFill>
        <p:spPr>
          <a:xfrm>
            <a:off x="1578240" y="1620000"/>
            <a:ext cx="7781760" cy="4605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1080000" y="540000"/>
            <a:ext cx="5274360" cy="54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" descr=""/>
          <p:cNvPicPr/>
          <p:nvPr/>
        </p:nvPicPr>
        <p:blipFill>
          <a:blip r:embed="rId2"/>
          <a:stretch/>
        </p:blipFill>
        <p:spPr>
          <a:xfrm>
            <a:off x="1440000" y="1260000"/>
            <a:ext cx="9720000" cy="648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" descr=""/>
          <p:cNvPicPr/>
          <p:nvPr/>
        </p:nvPicPr>
        <p:blipFill>
          <a:blip r:embed="rId1"/>
          <a:stretch/>
        </p:blipFill>
        <p:spPr>
          <a:xfrm>
            <a:off x="1260000" y="360000"/>
            <a:ext cx="5274360" cy="54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" descr=""/>
          <p:cNvPicPr/>
          <p:nvPr/>
        </p:nvPicPr>
        <p:blipFill>
          <a:blip r:embed="rId2"/>
          <a:stretch/>
        </p:blipFill>
        <p:spPr>
          <a:xfrm>
            <a:off x="1440000" y="900000"/>
            <a:ext cx="10121760" cy="720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" descr=""/>
          <p:cNvPicPr/>
          <p:nvPr/>
        </p:nvPicPr>
        <p:blipFill>
          <a:blip r:embed="rId1"/>
          <a:stretch/>
        </p:blipFill>
        <p:spPr>
          <a:xfrm>
            <a:off x="360000" y="1080000"/>
            <a:ext cx="12281760" cy="6495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" descr=""/>
          <p:cNvPicPr/>
          <p:nvPr/>
        </p:nvPicPr>
        <p:blipFill>
          <a:blip r:embed="rId1"/>
          <a:stretch/>
        </p:blipFill>
        <p:spPr>
          <a:xfrm>
            <a:off x="845640" y="360000"/>
            <a:ext cx="5274360" cy="562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" descr=""/>
          <p:cNvPicPr/>
          <p:nvPr/>
        </p:nvPicPr>
        <p:blipFill>
          <a:blip r:embed="rId2"/>
          <a:stretch/>
        </p:blipFill>
        <p:spPr>
          <a:xfrm>
            <a:off x="1440000" y="1440000"/>
            <a:ext cx="9540000" cy="5227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" descr=""/>
          <p:cNvPicPr/>
          <p:nvPr/>
        </p:nvPicPr>
        <p:blipFill>
          <a:blip r:embed="rId1"/>
          <a:stretch/>
        </p:blipFill>
        <p:spPr>
          <a:xfrm>
            <a:off x="540000" y="1800000"/>
            <a:ext cx="5274360" cy="54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" descr=""/>
          <p:cNvPicPr/>
          <p:nvPr/>
        </p:nvPicPr>
        <p:blipFill>
          <a:blip r:embed="rId2"/>
          <a:stretch/>
        </p:blipFill>
        <p:spPr>
          <a:xfrm>
            <a:off x="862560" y="2700000"/>
            <a:ext cx="10297440" cy="4065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5" name="" descr=""/>
          <p:cNvPicPr/>
          <p:nvPr/>
        </p:nvPicPr>
        <p:blipFill>
          <a:blip r:embed="rId3"/>
          <a:stretch/>
        </p:blipFill>
        <p:spPr>
          <a:xfrm>
            <a:off x="485640" y="337680"/>
            <a:ext cx="5274360" cy="562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6" name="" descr=""/>
          <p:cNvPicPr/>
          <p:nvPr/>
        </p:nvPicPr>
        <p:blipFill>
          <a:blip r:embed="rId4"/>
          <a:stretch/>
        </p:blipFill>
        <p:spPr>
          <a:xfrm>
            <a:off x="540000" y="877680"/>
            <a:ext cx="5580000" cy="562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Security &amp; Performance Highlights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JWT Authentication – Ensures secure access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HTTPS / SSL – Encrypted data transfer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CORS – Frontend-backend communication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CloudFront (optional) – Faster file access globally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Advantages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Fully serverless → no server maintenance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Scalable → handle multiple users and files seamlessly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Secure → JWT, HTTPS, controlled file sharing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User-friendly interface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Conclusion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1440000" y="2340000"/>
            <a:ext cx="6660360" cy="2848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Questions / Thank You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Thank You!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Contact: Apurva Kadam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Application>LibreOffice/25.8.3.2$Windows_X86_64 LibreOffice_project/8ca8d55c161d602844f5428fa4b58097424e324e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2025-11-17T14:38:49Z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